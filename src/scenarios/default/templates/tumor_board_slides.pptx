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a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lide_badge"/>
          <p:cNvSpPr txBox="1"/>
          <p:nvPr/>
        </p:nvSpPr>
        <p:spPr>
          <a:xfrm>
            <a:off x="11002975" y="914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007C91"/>
                </a:solidFill>
              </a:defRPr>
            </a:pPr>
            <a:r>
              <a:t>1 /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Patient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C91"/>
                </a:solidFill>
              </a:defRPr>
            </a:pPr>
            <a:r>
              <a:t>Col 0 — Case logistics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371600" cy="45720"/>
          </a:xfrm>
          <a:prstGeom prst="rect">
            <a:avLst/>
          </a:prstGeom>
          <a:solidFill>
            <a:srgbClr val="00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"/>
          <p:cNvSpPr txBox="1"/>
          <p:nvPr/>
        </p:nvSpPr>
        <p:spPr>
          <a:xfrm>
            <a:off x="731520" y="14173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</a:p>
        </p:txBody>
      </p:sp>
      <p:sp>
        <p:nvSpPr>
          <p:cNvPr id="8" name="footer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GYN Oncology Tumor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a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lide_badge"/>
          <p:cNvSpPr txBox="1"/>
          <p:nvPr/>
        </p:nvSpPr>
        <p:spPr>
          <a:xfrm>
            <a:off x="11002975" y="914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007C91"/>
                </a:solidFill>
              </a:defRPr>
            </a:pPr>
            <a:r>
              <a:t>2 /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Diagnosis &amp; Pertinent History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C91"/>
                </a:solidFill>
              </a:defRPr>
            </a:pPr>
            <a:r>
              <a:t>Col 1 — Narrative + staging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371600" cy="45720"/>
          </a:xfrm>
          <a:prstGeom prst="rect">
            <a:avLst/>
          </a:prstGeom>
          <a:solidFill>
            <a:srgbClr val="00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"/>
          <p:cNvSpPr txBox="1"/>
          <p:nvPr/>
        </p:nvSpPr>
        <p:spPr>
          <a:xfrm>
            <a:off x="731520" y="1417320"/>
            <a:ext cx="6858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</a:p>
        </p:txBody>
      </p:sp>
      <p:sp>
        <p:nvSpPr>
          <p:cNvPr id="8" name="staging_label"/>
          <p:cNvSpPr txBox="1"/>
          <p:nvPr/>
        </p:nvSpPr>
        <p:spPr>
          <a:xfrm>
            <a:off x="731520" y="5029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0000"/>
                </a:solidFill>
              </a:defRPr>
            </a:pPr>
            <a:r>
              <a:t>Primary Site:</a:t>
            </a:r>
          </a:p>
        </p:txBody>
      </p:sp>
      <p:sp>
        <p:nvSpPr>
          <p:cNvPr id="9" name="staging_body"/>
          <p:cNvSpPr txBox="1"/>
          <p:nvPr/>
        </p:nvSpPr>
        <p:spPr>
          <a:xfrm>
            <a:off x="731520" y="5029200"/>
            <a:ext cx="10515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0000"/>
                </a:solidFill>
              </a:defRPr>
            </a:pPr>
          </a:p>
        </p:txBody>
      </p:sp>
      <p:sp>
        <p:nvSpPr>
          <p:cNvPr id="10" name="footer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GYN Oncology Tumor 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a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lide_badge"/>
          <p:cNvSpPr txBox="1"/>
          <p:nvPr/>
        </p:nvSpPr>
        <p:spPr>
          <a:xfrm>
            <a:off x="11002975" y="914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007C91"/>
                </a:solidFill>
              </a:defRPr>
            </a:pPr>
            <a:r>
              <a:t>3 /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Previous Tx or Operative Findings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C91"/>
                </a:solidFill>
              </a:defRPr>
            </a:pPr>
            <a:r>
              <a:t>Col 2 — Treatment history &amp; tumor markers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371600" cy="45720"/>
          </a:xfrm>
          <a:prstGeom prst="rect">
            <a:avLst/>
          </a:prstGeom>
          <a:solidFill>
            <a:srgbClr val="00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_left"/>
          <p:cNvSpPr txBox="1"/>
          <p:nvPr/>
        </p:nvSpPr>
        <p:spPr>
          <a:xfrm>
            <a:off x="731520" y="141732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</a:p>
        </p:txBody>
      </p:sp>
      <p:sp>
        <p:nvSpPr>
          <p:cNvPr id="8" name="chart_title"/>
          <p:cNvSpPr txBox="1"/>
          <p:nvPr/>
        </p:nvSpPr>
        <p:spPr>
          <a:xfrm>
            <a:off x="68580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C91"/>
                </a:solidFill>
              </a:defRPr>
            </a:pPr>
            <a:r>
              <a:t>CA-125 Trend</a:t>
            </a:r>
          </a:p>
        </p:txBody>
      </p:sp>
      <p:sp>
        <p:nvSpPr>
          <p:cNvPr id="9" name="chart_area"/>
          <p:cNvSpPr/>
          <p:nvPr/>
        </p:nvSpPr>
        <p:spPr>
          <a:xfrm>
            <a:off x="6858000" y="1874519"/>
            <a:ext cx="4846320" cy="41148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ooter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GYN Oncology Tumor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a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lide_badge"/>
          <p:cNvSpPr txBox="1"/>
          <p:nvPr/>
        </p:nvSpPr>
        <p:spPr>
          <a:xfrm>
            <a:off x="11002975" y="914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007C91"/>
                </a:solidFill>
              </a:defRPr>
            </a:pPr>
            <a:r>
              <a:t>4 /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Imaging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C91"/>
                </a:solidFill>
              </a:defRPr>
            </a:pPr>
            <a:r>
              <a:t>Col 3 — Dated imaging studies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371600" cy="45720"/>
          </a:xfrm>
          <a:prstGeom prst="rect">
            <a:avLst/>
          </a:prstGeom>
          <a:solidFill>
            <a:srgbClr val="00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"/>
          <p:cNvSpPr txBox="1"/>
          <p:nvPr/>
        </p:nvSpPr>
        <p:spPr>
          <a:xfrm>
            <a:off x="731520" y="14173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</a:p>
        </p:txBody>
      </p:sp>
      <p:sp>
        <p:nvSpPr>
          <p:cNvPr id="8" name="footer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GYN Oncology Tumor 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a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lide_badge"/>
          <p:cNvSpPr txBox="1"/>
          <p:nvPr/>
        </p:nvSpPr>
        <p:spPr>
          <a:xfrm>
            <a:off x="11002975" y="914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007C91"/>
                </a:solidFill>
              </a:defRPr>
            </a:pPr>
            <a:r>
              <a:t>5 /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C91"/>
                </a:solidFill>
              </a:defRPr>
            </a:pPr>
            <a:r>
              <a:t>Col 4 — Review · Trial eligibility ·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371600" cy="45720"/>
          </a:xfrm>
          <a:prstGeom prst="rect">
            <a:avLst/>
          </a:prstGeom>
          <a:solidFill>
            <a:srgbClr val="00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view_header"/>
          <p:cNvSpPr txBox="1"/>
          <p:nvPr/>
        </p:nvSpPr>
        <p:spPr>
          <a:xfrm>
            <a:off x="731520" y="1417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</a:p>
        </p:txBody>
      </p:sp>
      <p:sp>
        <p:nvSpPr>
          <p:cNvPr id="8" name="body"/>
          <p:cNvSpPr txBox="1"/>
          <p:nvPr/>
        </p:nvSpPr>
        <p:spPr>
          <a:xfrm>
            <a:off x="731520" y="23317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</a:p>
        </p:txBody>
      </p:sp>
      <p:sp>
        <p:nvSpPr>
          <p:cNvPr id="9" name="trials_header"/>
          <p:cNvSpPr txBox="1"/>
          <p:nvPr/>
        </p:nvSpPr>
        <p:spPr>
          <a:xfrm>
            <a:off x="731520" y="4983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C91"/>
                </a:solidFill>
              </a:defRPr>
            </a:pPr>
            <a:r>
              <a:t>Eligible Clinical Trials</a:t>
            </a:r>
          </a:p>
        </p:txBody>
      </p:sp>
      <p:sp>
        <p:nvSpPr>
          <p:cNvPr id="10" name="trials_body"/>
          <p:cNvSpPr txBox="1"/>
          <p:nvPr/>
        </p:nvSpPr>
        <p:spPr>
          <a:xfrm>
            <a:off x="731520" y="5440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</a:p>
        </p:txBody>
      </p:sp>
      <p:sp>
        <p:nvSpPr>
          <p:cNvPr id="11" name="footer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GYN Oncology Tumor 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